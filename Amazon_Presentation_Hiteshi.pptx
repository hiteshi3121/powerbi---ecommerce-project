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7" r:id="rId4"/>
    <p:sldId id="259" r:id="rId5"/>
    <p:sldId id="260" r:id="rId6"/>
    <p:sldId id="261" r:id="rId7"/>
    <p:sldId id="278" r:id="rId8"/>
    <p:sldId id="264" r:id="rId9"/>
    <p:sldId id="266" r:id="rId10"/>
    <p:sldId id="263" r:id="rId11"/>
    <p:sldId id="265" r:id="rId12"/>
    <p:sldId id="267" r:id="rId13"/>
    <p:sldId id="268" r:id="rId14"/>
    <p:sldId id="270" r:id="rId15"/>
    <p:sldId id="272" r:id="rId16"/>
    <p:sldId id="273" r:id="rId17"/>
    <p:sldId id="274" r:id="rId18"/>
    <p:sldId id="279" r:id="rId19"/>
    <p:sldId id="27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3741" autoAdjust="0"/>
  </p:normalViewPr>
  <p:slideViewPr>
    <p:cSldViewPr snapToGrid="0" snapToObjects="1">
      <p:cViewPr varScale="1">
        <p:scale>
          <a:sx n="66" d="100"/>
          <a:sy n="66" d="100"/>
        </p:scale>
        <p:origin x="64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F68A0"/>
                </a:solidFill>
                <a:latin typeface="Aptos"/>
              </a:defRPr>
            </a:pPr>
            <a:r>
              <a:t>AMAZON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6583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1C3752"/>
                </a:solidFill>
                <a:latin typeface="Aptos"/>
              </a:defRPr>
            </a:pPr>
            <a:r>
              <a:t>E-Commerce</a:t>
            </a:r>
            <a:br/>
            <a:r>
              <a:t>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A6976"/>
                </a:solidFill>
                <a:latin typeface="Aptos"/>
              </a:defRPr>
            </a:pPr>
            <a:r>
              <a:t>Power BI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7323B"/>
                </a:solidFill>
                <a:latin typeface="Aptos"/>
              </a:defRPr>
            </a:pPr>
            <a:r>
              <a:t>Hiteshi Aglawe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245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A6976"/>
                </a:solidFill>
                <a:latin typeface="Aptos"/>
              </a:defRPr>
            </a:pPr>
            <a:r>
              <a:t>September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097280"/>
            <a:ext cx="2560320" cy="411480"/>
          </a:xfrm>
          <a:prstGeom prst="round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8120" y="1828800"/>
            <a:ext cx="2011680" cy="411480"/>
          </a:xfrm>
          <a:prstGeom prst="roundRect">
            <a:avLst/>
          </a:prstGeom>
          <a:solidFill>
            <a:srgbClr val="3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18120" y="2560320"/>
            <a:ext cx="2926080" cy="411480"/>
          </a:xfrm>
          <a:prstGeom prst="roundRect">
            <a:avLst/>
          </a:prstGeom>
          <a:solidFill>
            <a:srgbClr val="E8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18120" y="3291840"/>
            <a:ext cx="2377440" cy="411480"/>
          </a:xfrm>
          <a:prstGeom prst="round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18120" y="4023360"/>
            <a:ext cx="3291840" cy="411480"/>
          </a:xfrm>
          <a:prstGeom prst="roundRect">
            <a:avLst/>
          </a:prstGeom>
          <a:solidFill>
            <a:srgbClr val="3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0348" y="4951527"/>
            <a:ext cx="34747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3752"/>
                </a:solidFill>
                <a:latin typeface="Aptos"/>
              </a:defRPr>
            </a:pPr>
            <a:r>
              <a:rPr dirty="0"/>
              <a:t>Revenue • Customers • Products</a:t>
            </a:r>
            <a:br>
              <a:rPr dirty="0"/>
            </a:br>
            <a:r>
              <a:rPr dirty="0"/>
              <a:t>Delivery • Ratings 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1035E1A1-0485-9A99-9B66-BA324A110E94}"/>
              </a:ext>
            </a:extLst>
          </p:cNvPr>
          <p:cNvSpPr/>
          <p:nvPr/>
        </p:nvSpPr>
        <p:spPr>
          <a:xfrm rot="16200000">
            <a:off x="5869627" y="2779827"/>
            <a:ext cx="3921442" cy="45720"/>
          </a:xfrm>
          <a:prstGeom prst="roundRect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98366"/>
            <a:ext cx="11155680" cy="15645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7323B"/>
                </a:solidFill>
                <a:latin typeface="Aptos"/>
              </a:defRPr>
            </a:pPr>
            <a:r>
              <a:rPr lang="en-US" sz="1400" dirty="0"/>
              <a:t>Stakeholders want to sustain performance while improving customer value.</a:t>
            </a:r>
          </a:p>
          <a:p>
            <a:pPr algn="l">
              <a:defRPr sz="1800" b="0">
                <a:solidFill>
                  <a:srgbClr val="27323B"/>
                </a:solidFill>
                <a:latin typeface="Aptos"/>
              </a:defRPr>
            </a:pPr>
            <a:endParaRPr lang="en-IN" sz="1400" dirty="0">
              <a:solidFill>
                <a:srgbClr val="27323B"/>
              </a:solidFill>
              <a:latin typeface="Aptos"/>
            </a:endParaRPr>
          </a:p>
          <a:p>
            <a:pPr algn="l">
              <a:defRPr sz="1800" b="0">
                <a:solidFill>
                  <a:srgbClr val="27323B"/>
                </a:solidFill>
                <a:latin typeface="Aptos"/>
              </a:defRPr>
            </a:pPr>
            <a:r>
              <a:rPr sz="1400" dirty="0">
                <a:solidFill>
                  <a:srgbClr val="27323B"/>
                </a:solidFill>
                <a:latin typeface="Aptos"/>
              </a:rPr>
              <a:t>The team is exploring ways to benefit customers through smarter discounts, loyalty benefits and a better shopping experience.</a:t>
            </a:r>
            <a:endParaRPr lang="en-IN" sz="1400" dirty="0">
              <a:solidFill>
                <a:srgbClr val="27323B"/>
              </a:solidFill>
              <a:latin typeface="Aptos"/>
            </a:endParaRPr>
          </a:p>
          <a:p>
            <a:pPr>
              <a:spcAft>
                <a:spcPts val="700"/>
              </a:spcAft>
              <a:defRPr sz="1500">
                <a:solidFill>
                  <a:srgbClr val="27323B"/>
                </a:solidFill>
                <a:latin typeface="Aptos"/>
              </a:defRPr>
            </a:pPr>
            <a:r>
              <a:rPr lang="en-US" sz="1400" dirty="0">
                <a:solidFill>
                  <a:srgbClr val="27323B"/>
                </a:solidFill>
                <a:latin typeface="Aptos"/>
              </a:rPr>
              <a:t>Understand the drivers of revenue, customer value and product performance.</a:t>
            </a:r>
          </a:p>
          <a:p>
            <a:pPr>
              <a:spcAft>
                <a:spcPts val="700"/>
              </a:spcAft>
              <a:defRPr sz="1500">
                <a:solidFill>
                  <a:srgbClr val="27323B"/>
                </a:solidFill>
                <a:latin typeface="Aptos"/>
              </a:defRPr>
            </a:pPr>
            <a:r>
              <a:rPr lang="en-US" sz="1400" dirty="0">
                <a:solidFill>
                  <a:srgbClr val="27323B"/>
                </a:solidFill>
                <a:latin typeface="Aptos"/>
              </a:rPr>
              <a:t>Identify operational friction in delivery, returns and satisfaction.</a:t>
            </a:r>
          </a:p>
          <a:p>
            <a:pPr>
              <a:spcAft>
                <a:spcPts val="700"/>
              </a:spcAft>
              <a:defRPr sz="1500">
                <a:solidFill>
                  <a:srgbClr val="27323B"/>
                </a:solidFill>
                <a:latin typeface="Aptos"/>
              </a:defRPr>
            </a:pPr>
            <a:r>
              <a:rPr lang="en-US" sz="1400" dirty="0">
                <a:solidFill>
                  <a:srgbClr val="27323B"/>
                </a:solidFill>
                <a:latin typeface="Aptos"/>
              </a:rPr>
              <a:t>Create an analysis that supports decisions across product, customer, regional and operations teams.</a:t>
            </a:r>
            <a:endParaRPr sz="1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EFE2214-0572-1731-3B49-FF232A9B0661}"/>
              </a:ext>
            </a:extLst>
          </p:cNvPr>
          <p:cNvGrpSpPr/>
          <p:nvPr/>
        </p:nvGrpSpPr>
        <p:grpSpPr>
          <a:xfrm>
            <a:off x="731520" y="2834640"/>
            <a:ext cx="8717280" cy="731520"/>
            <a:chOff x="731520" y="2148840"/>
            <a:chExt cx="10652760" cy="1417320"/>
          </a:xfrm>
        </p:grpSpPr>
        <p:sp>
          <p:nvSpPr>
            <p:cNvPr id="7" name="Rounded Rectangle 6"/>
            <p:cNvSpPr/>
            <p:nvPr/>
          </p:nvSpPr>
          <p:spPr>
            <a:xfrm>
              <a:off x="731520" y="2148840"/>
              <a:ext cx="324612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731520" y="2148840"/>
              <a:ext cx="64008" cy="1417320"/>
            </a:xfrm>
            <a:prstGeom prst="rect">
              <a:avLst/>
            </a:prstGeom>
            <a:solidFill>
              <a:srgbClr val="2F68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96112" y="2295144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rPr dirty="0"/>
                <a:t>REVENUE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113" y="2752249"/>
              <a:ext cx="2971800" cy="30777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600" b="1">
                  <a:solidFill>
                    <a:srgbClr val="1C3752"/>
                  </a:solidFill>
                  <a:latin typeface="Aptos"/>
                </a:defRPr>
              </a:pPr>
              <a:r>
                <a:rPr sz="1400" dirty="0"/>
                <a:t>What drives growth?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4434840" y="2148840"/>
              <a:ext cx="324612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434840" y="2148840"/>
              <a:ext cx="64008" cy="1417320"/>
            </a:xfrm>
            <a:prstGeom prst="rect">
              <a:avLst/>
            </a:prstGeom>
            <a:solidFill>
              <a:srgbClr val="3F91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99431" y="2295144"/>
              <a:ext cx="29718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rPr dirty="0"/>
                <a:t>CUSTOMERS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599430" y="2747748"/>
              <a:ext cx="2971800" cy="30777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600" b="1">
                  <a:solidFill>
                    <a:srgbClr val="1C3752"/>
                  </a:solidFill>
                  <a:latin typeface="Aptos"/>
                </a:defRPr>
              </a:pPr>
              <a:r>
                <a:rPr sz="1400" dirty="0"/>
                <a:t>Who creates value?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8138160" y="2148840"/>
              <a:ext cx="3246120" cy="141732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38160" y="2148840"/>
              <a:ext cx="64008" cy="1417320"/>
            </a:xfrm>
            <a:prstGeom prst="rect">
              <a:avLst/>
            </a:prstGeom>
            <a:solidFill>
              <a:srgbClr val="E8AA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02752" y="2295145"/>
              <a:ext cx="2971800" cy="2743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rPr dirty="0"/>
                <a:t>OPERATIONS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75319" y="2727831"/>
              <a:ext cx="2971800" cy="30777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600" b="1">
                  <a:solidFill>
                    <a:srgbClr val="1C3752"/>
                  </a:solidFill>
                  <a:latin typeface="Aptos"/>
                </a:defRPr>
              </a:pPr>
              <a:r>
                <a:rPr sz="1400" dirty="0"/>
                <a:t>What needs improvement?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94360" y="39319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Main tab: overall sales, revenue and customer satisfaction with category/date slicers.</a:t>
            </a:r>
          </a:p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Product tab: category performance, customer base and improvement opportunities with gender, delivery, category and age-group slicers.</a:t>
            </a:r>
          </a:p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Individual Product tab: detailed product profile including purchase, category, rating and revenue.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605CA8-4D6F-992D-CAE0-40A169C62EC3}"/>
              </a:ext>
            </a:extLst>
          </p:cNvPr>
          <p:cNvGrpSpPr/>
          <p:nvPr/>
        </p:nvGrpSpPr>
        <p:grpSpPr>
          <a:xfrm>
            <a:off x="594360" y="5320453"/>
            <a:ext cx="10180320" cy="440267"/>
            <a:chOff x="640080" y="4617720"/>
            <a:chExt cx="10607040" cy="868680"/>
          </a:xfrm>
        </p:grpSpPr>
        <p:sp>
          <p:nvSpPr>
            <p:cNvPr id="25" name="Rounded Rectangle 10"/>
            <p:cNvSpPr/>
            <p:nvPr/>
          </p:nvSpPr>
          <p:spPr>
            <a:xfrm>
              <a:off x="640080" y="4617720"/>
              <a:ext cx="10607040" cy="868680"/>
            </a:xfrm>
            <a:prstGeom prst="roundRect">
              <a:avLst/>
            </a:prstGeom>
            <a:solidFill>
              <a:srgbClr val="FCF6E7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4671" y="4727449"/>
              <a:ext cx="10277856" cy="60726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600" b="0">
                  <a:solidFill>
                    <a:srgbClr val="27323B"/>
                  </a:solidFill>
                  <a:latin typeface="Aptos"/>
                </a:defRPr>
              </a:pPr>
              <a:r>
                <a:rPr lang="en-IN" sz="1400" dirty="0"/>
                <a:t>R</a:t>
              </a:r>
              <a:r>
                <a:rPr sz="1400" dirty="0" err="1"/>
                <a:t>evenue</a:t>
              </a:r>
              <a:r>
                <a:rPr sz="1400" dirty="0"/>
                <a:t> stayed broadly stable through 2015–2019, then jumped to ~₹24M in 2020 — the clearest growth signa</a:t>
              </a:r>
              <a:r>
                <a:rPr lang="en-IN" sz="1400" dirty="0"/>
                <a:t>l</a:t>
              </a:r>
              <a:r>
                <a:rPr sz="1400" dirty="0"/>
                <a:t> in the dataset.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B43CFD-1628-D697-32AD-16082EA83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230" y="953008"/>
            <a:ext cx="2439437" cy="459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4E439-DE1C-AB28-B602-5A042E6E0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6" y="953008"/>
            <a:ext cx="9163164" cy="459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008F6F-BC0C-4A8F-669C-5C2A1B838D4A}"/>
              </a:ext>
            </a:extLst>
          </p:cNvPr>
          <p:cNvSpPr txBox="1"/>
          <p:nvPr/>
        </p:nvSpPr>
        <p:spPr>
          <a:xfrm>
            <a:off x="210326" y="30149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dirty="0"/>
              <a:t>Data Overview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04483D-55F1-667B-13A8-D64BF3EE5554}"/>
              </a:ext>
            </a:extLst>
          </p:cNvPr>
          <p:cNvGrpSpPr/>
          <p:nvPr/>
        </p:nvGrpSpPr>
        <p:grpSpPr>
          <a:xfrm>
            <a:off x="286365" y="5847588"/>
            <a:ext cx="11831841" cy="594360"/>
            <a:chOff x="731520" y="5623560"/>
            <a:chExt cx="10607040" cy="594360"/>
          </a:xfrm>
        </p:grpSpPr>
        <p:sp>
          <p:nvSpPr>
            <p:cNvPr id="28" name="Rounded Rectangle 27"/>
            <p:cNvSpPr/>
            <p:nvPr/>
          </p:nvSpPr>
          <p:spPr>
            <a:xfrm>
              <a:off x="731520" y="5623560"/>
              <a:ext cx="10607040" cy="594360"/>
            </a:xfrm>
            <a:prstGeom prst="roundRect">
              <a:avLst/>
            </a:prstGeom>
            <a:solidFill>
              <a:srgbClr val="EAF2F9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96112" y="5733288"/>
              <a:ext cx="10277856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0">
                  <a:solidFill>
                    <a:srgbClr val="27323B"/>
                  </a:solidFill>
                  <a:latin typeface="Aptos"/>
                </a:defRPr>
              </a:pPr>
              <a:r>
                <a:t>Key preparation: missing values were handled, text fields cleaned, data types validated, and analysis-ready calculated fields such as Delivery Days and Customer Category were created.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487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9079" y="245350"/>
            <a:ext cx="24197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dirty="0"/>
              <a:t>Data Overview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67DF1E0-9E5D-D909-F477-7F3D97959C62}"/>
              </a:ext>
            </a:extLst>
          </p:cNvPr>
          <p:cNvGrpSpPr/>
          <p:nvPr/>
        </p:nvGrpSpPr>
        <p:grpSpPr>
          <a:xfrm>
            <a:off x="7320651" y="1087576"/>
            <a:ext cx="4633926" cy="4966020"/>
            <a:chOff x="262465" y="867560"/>
            <a:chExt cx="4337949" cy="3631283"/>
          </a:xfrm>
        </p:grpSpPr>
        <p:pic>
          <p:nvPicPr>
            <p:cNvPr id="22" name="Picture 21" descr="image18.png"/>
            <p:cNvPicPr>
              <a:picLocks noChangeAspect="1"/>
            </p:cNvPicPr>
            <p:nvPr/>
          </p:nvPicPr>
          <p:blipFill>
            <a:blip r:embed="rId2"/>
            <a:srcRect l="15051" t="4000" b="4441"/>
            <a:stretch>
              <a:fillRect/>
            </a:stretch>
          </p:blipFill>
          <p:spPr>
            <a:xfrm>
              <a:off x="270932" y="867560"/>
              <a:ext cx="4329482" cy="3346813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62465" y="4237233"/>
              <a:ext cx="274320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rPr dirty="0"/>
                <a:t>Model relationship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1FC5EE-3EE6-F3E6-B0AC-27E4D5839E9B}"/>
              </a:ext>
            </a:extLst>
          </p:cNvPr>
          <p:cNvGrpSpPr/>
          <p:nvPr/>
        </p:nvGrpSpPr>
        <p:grpSpPr>
          <a:xfrm>
            <a:off x="413424" y="1083457"/>
            <a:ext cx="6767022" cy="3030672"/>
            <a:chOff x="4880187" y="326642"/>
            <a:chExt cx="6018106" cy="2837598"/>
          </a:xfrm>
        </p:grpSpPr>
        <p:pic>
          <p:nvPicPr>
            <p:cNvPr id="24" name="Picture 23" descr="image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0827" y="326642"/>
              <a:ext cx="5977466" cy="254677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4880187" y="2902630"/>
              <a:ext cx="347472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rPr dirty="0"/>
                <a:t>Orders data after transformation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C361B9-318C-4B81-D653-620CA207E996}"/>
              </a:ext>
            </a:extLst>
          </p:cNvPr>
          <p:cNvGrpSpPr/>
          <p:nvPr/>
        </p:nvGrpSpPr>
        <p:grpSpPr>
          <a:xfrm>
            <a:off x="339079" y="4145332"/>
            <a:ext cx="6841367" cy="2139998"/>
            <a:chOff x="7410026" y="1867681"/>
            <a:chExt cx="6801133" cy="2808382"/>
          </a:xfrm>
        </p:grpSpPr>
        <p:pic>
          <p:nvPicPr>
            <p:cNvPr id="26" name="Picture 25" descr="image4.png"/>
            <p:cNvPicPr>
              <a:picLocks noChangeAspect="1"/>
            </p:cNvPicPr>
            <p:nvPr/>
          </p:nvPicPr>
          <p:blipFill>
            <a:blip r:embed="rId4"/>
            <a:srcRect l="1" r="-441"/>
            <a:stretch>
              <a:fillRect/>
            </a:stretch>
          </p:blipFill>
          <p:spPr>
            <a:xfrm>
              <a:off x="7475695" y="1867681"/>
              <a:ext cx="6735464" cy="2504271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410026" y="4414453"/>
              <a:ext cx="2783470" cy="2616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rPr dirty="0"/>
                <a:t>Customers data after transformation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02ABD07-509F-3F62-6EEA-49FC22D984EC}"/>
              </a:ext>
            </a:extLst>
          </p:cNvPr>
          <p:cNvSpPr txBox="1"/>
          <p:nvPr/>
        </p:nvSpPr>
        <p:spPr>
          <a:xfrm>
            <a:off x="313798" y="689458"/>
            <a:ext cx="44218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rPr b="1" dirty="0"/>
              <a:t>Orders + Customers model | cleaned and prepared for analysis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8E2859B-C71F-B6FB-4DBE-239D4EAA0AEC}"/>
              </a:ext>
            </a:extLst>
          </p:cNvPr>
          <p:cNvGrpSpPr/>
          <p:nvPr/>
        </p:nvGrpSpPr>
        <p:grpSpPr>
          <a:xfrm>
            <a:off x="4760909" y="297441"/>
            <a:ext cx="7193667" cy="653627"/>
            <a:chOff x="685800" y="1234440"/>
            <a:chExt cx="10561320" cy="1218390"/>
          </a:xfrm>
        </p:grpSpPr>
        <p:sp>
          <p:nvSpPr>
            <p:cNvPr id="38" name="Rounded Rectangle 5"/>
            <p:cNvSpPr/>
            <p:nvPr/>
          </p:nvSpPr>
          <p:spPr>
            <a:xfrm>
              <a:off x="685800" y="1234440"/>
              <a:ext cx="2264434" cy="1218390"/>
            </a:xfrm>
            <a:prstGeom prst="roundRect">
              <a:avLst/>
            </a:prstGeom>
            <a:solidFill>
              <a:srgbClr val="EAF2F9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0392" y="1380745"/>
              <a:ext cx="2194560" cy="2743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t>ROWS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0393" y="1709928"/>
              <a:ext cx="2194560" cy="3961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000" b="1">
                  <a:solidFill>
                    <a:srgbClr val="1C3752"/>
                  </a:solidFill>
                  <a:latin typeface="Aptos"/>
                </a:defRPr>
              </a:pPr>
              <a:r>
                <a:rPr sz="1600" dirty="0"/>
                <a:t>~113K orders</a:t>
              </a:r>
            </a:p>
          </p:txBody>
        </p:sp>
        <p:sp>
          <p:nvSpPr>
            <p:cNvPr id="41" name="Rounded Rectangle 9"/>
            <p:cNvSpPr/>
            <p:nvPr/>
          </p:nvSpPr>
          <p:spPr>
            <a:xfrm>
              <a:off x="3383280" y="1234440"/>
              <a:ext cx="2468880" cy="1143000"/>
            </a:xfrm>
            <a:prstGeom prst="roundRect">
              <a:avLst/>
            </a:prstGeom>
            <a:solidFill>
              <a:srgbClr val="E9F6F5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547872" y="1380745"/>
              <a:ext cx="2194560" cy="2743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t>CUSTOMERS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547872" y="1709928"/>
              <a:ext cx="2194560" cy="3961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000" b="1">
                  <a:solidFill>
                    <a:srgbClr val="1C3752"/>
                  </a:solidFill>
                  <a:latin typeface="Aptos"/>
                </a:defRPr>
              </a:pPr>
              <a:r>
                <a:rPr sz="1600" dirty="0"/>
                <a:t>~113K</a:t>
              </a:r>
            </a:p>
          </p:txBody>
        </p:sp>
        <p:sp>
          <p:nvSpPr>
            <p:cNvPr id="44" name="Rounded Rectangle 13"/>
            <p:cNvSpPr/>
            <p:nvPr/>
          </p:nvSpPr>
          <p:spPr>
            <a:xfrm>
              <a:off x="6080760" y="1234440"/>
              <a:ext cx="2468880" cy="1143000"/>
            </a:xfrm>
            <a:prstGeom prst="roundRect">
              <a:avLst/>
            </a:prstGeom>
            <a:solidFill>
              <a:srgbClr val="FCF6E7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45352" y="1380745"/>
              <a:ext cx="2194560" cy="2743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t>PRODUCTS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45352" y="1709928"/>
              <a:ext cx="2194560" cy="3961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000" b="1">
                  <a:solidFill>
                    <a:srgbClr val="1C3752"/>
                  </a:solidFill>
                  <a:latin typeface="Aptos"/>
                </a:defRPr>
              </a:pPr>
              <a:r>
                <a:rPr sz="1600"/>
                <a:t>44 unique</a:t>
              </a:r>
            </a:p>
          </p:txBody>
        </p:sp>
        <p:sp>
          <p:nvSpPr>
            <p:cNvPr id="47" name="Rounded Rectangle 17"/>
            <p:cNvSpPr/>
            <p:nvPr/>
          </p:nvSpPr>
          <p:spPr>
            <a:xfrm>
              <a:off x="8778240" y="1234440"/>
              <a:ext cx="2468880" cy="1143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942831" y="1380745"/>
              <a:ext cx="2194560" cy="2743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100" b="1">
                  <a:solidFill>
                    <a:srgbClr val="5A6976"/>
                  </a:solidFill>
                  <a:latin typeface="Aptos"/>
                </a:defRPr>
              </a:pPr>
              <a:r>
                <a:t>CATEGORIES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942831" y="1709928"/>
              <a:ext cx="2194560" cy="3961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000" b="1">
                  <a:solidFill>
                    <a:srgbClr val="1C3752"/>
                  </a:solidFill>
                  <a:latin typeface="Aptos"/>
                </a:defRPr>
              </a:pPr>
              <a:r>
                <a:rPr sz="1600"/>
                <a:t>5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62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t>Methodology &amp; KPI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t>From data cleaning to business storytelling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417320"/>
            <a:ext cx="502920" cy="50292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49961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1732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3752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82880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6976"/>
                </a:solidFill>
                <a:latin typeface="Aptos"/>
              </a:defRPr>
            </a:pPr>
            <a:r>
              <a:t>Power Query profiling, null handling, text cleanup, type checks</a:t>
            </a:r>
          </a:p>
        </p:txBody>
      </p:sp>
      <p:sp>
        <p:nvSpPr>
          <p:cNvPr id="10" name="Oval 9"/>
          <p:cNvSpPr/>
          <p:nvPr/>
        </p:nvSpPr>
        <p:spPr>
          <a:xfrm>
            <a:off x="2926080" y="1417320"/>
            <a:ext cx="502920" cy="50292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49961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41732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375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182880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6976"/>
                </a:solidFill>
                <a:latin typeface="Aptos"/>
              </a:defRPr>
            </a:pPr>
            <a:r>
              <a:t>Orders–Customers relationship and calculated fields</a:t>
            </a:r>
          </a:p>
        </p:txBody>
      </p:sp>
      <p:sp>
        <p:nvSpPr>
          <p:cNvPr id="14" name="Oval 13"/>
          <p:cNvSpPr/>
          <p:nvPr/>
        </p:nvSpPr>
        <p:spPr>
          <a:xfrm>
            <a:off x="5193792" y="1417320"/>
            <a:ext cx="502920" cy="50292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149961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141732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3752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182880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6976"/>
                </a:solidFill>
                <a:latin typeface="Aptos"/>
              </a:defRPr>
            </a:pPr>
            <a:r>
              <a:t>Revenue, orders, unique customers, ratings, delivery metrics</a:t>
            </a:r>
          </a:p>
        </p:txBody>
      </p:sp>
      <p:sp>
        <p:nvSpPr>
          <p:cNvPr id="18" name="Oval 17"/>
          <p:cNvSpPr/>
          <p:nvPr/>
        </p:nvSpPr>
        <p:spPr>
          <a:xfrm>
            <a:off x="7461504" y="1417320"/>
            <a:ext cx="502920" cy="50292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4" y="149961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41732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3752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182880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6976"/>
                </a:solidFill>
                <a:latin typeface="Aptos"/>
              </a:defRPr>
            </a:pPr>
            <a:r>
              <a:t>Time, product, location, delivery, customer and rating patterns</a:t>
            </a:r>
          </a:p>
        </p:txBody>
      </p:sp>
      <p:sp>
        <p:nvSpPr>
          <p:cNvPr id="22" name="Oval 21"/>
          <p:cNvSpPr/>
          <p:nvPr/>
        </p:nvSpPr>
        <p:spPr>
          <a:xfrm>
            <a:off x="9729216" y="1417320"/>
            <a:ext cx="502920" cy="50292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9216" y="149961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141732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3752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182880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6976"/>
                </a:solidFill>
                <a:latin typeface="Aptos"/>
              </a:defRPr>
            </a:pPr>
            <a:r>
              <a:t>Turn evidence into targeted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3151694"/>
            <a:ext cx="4663440" cy="1005840"/>
          </a:xfrm>
          <a:prstGeom prst="roundRect">
            <a:avLst/>
          </a:prstGeom>
          <a:solidFill>
            <a:srgbClr val="E9F6F5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9984" y="3261422"/>
            <a:ext cx="43342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7323B"/>
                </a:solidFill>
                <a:latin typeface="Aptos"/>
              </a:defRPr>
            </a:pPr>
            <a:r>
              <a:rPr dirty="0"/>
              <a:t>Analytical features: DAX measures, calculated columns, time intelligence, slicers, field parameters and drill-oriented dashboard views.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38314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Core question: What is happening?</a:t>
            </a:r>
          </a:p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Next question: Why does it matter?</a:t>
            </a:r>
          </a:p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Decision question: What should the business do next?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2AEEEC0-43A9-A086-0A14-88F916159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22" y="3151694"/>
            <a:ext cx="5804085" cy="2566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7783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dirty="0"/>
              <a:t>Revenue &amp; Product</a:t>
            </a:r>
            <a:r>
              <a:rPr lang="en-IN" dirty="0"/>
              <a:t> Performance by year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t>The 2020 step-up is broad-based, while technology products lead value</a:t>
            </a:r>
          </a:p>
        </p:txBody>
      </p:sp>
      <p:pic>
        <p:nvPicPr>
          <p:cNvPr id="6" name="Picture 5" descr="imag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85793"/>
            <a:ext cx="6777074" cy="40495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E6C5E49-464D-A5A9-15DD-C2B488B763A9}"/>
              </a:ext>
            </a:extLst>
          </p:cNvPr>
          <p:cNvGrpSpPr/>
          <p:nvPr/>
        </p:nvGrpSpPr>
        <p:grpSpPr>
          <a:xfrm>
            <a:off x="7700619" y="1491572"/>
            <a:ext cx="3995928" cy="3952717"/>
            <a:chOff x="7315200" y="1491572"/>
            <a:chExt cx="4160520" cy="3952717"/>
          </a:xfrm>
        </p:grpSpPr>
        <p:sp>
          <p:nvSpPr>
            <p:cNvPr id="7" name="TextBox 6"/>
            <p:cNvSpPr txBox="1"/>
            <p:nvPr/>
          </p:nvSpPr>
          <p:spPr>
            <a:xfrm>
              <a:off x="7315200" y="1491572"/>
              <a:ext cx="4160520" cy="2941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spcAft>
                  <a:spcPts val="700"/>
                </a:spcAft>
                <a:buFont typeface="Courier New" panose="02070309020205020404" pitchFamily="49" charset="0"/>
                <a:buChar char="o"/>
                <a:defRPr sz="1400">
                  <a:solidFill>
                    <a:srgbClr val="27323B"/>
                  </a:solidFill>
                  <a:latin typeface="Aptos"/>
                </a:defRPr>
              </a:pPr>
              <a:r>
                <a:rPr sz="1200" dirty="0"/>
                <a:t>Revenue was stable around ₹16–17M from 2015 to 2019, then increased to ~₹24.0M in 2020.</a:t>
              </a:r>
            </a:p>
            <a:p>
              <a:pPr marL="285750" indent="-285750">
                <a:spcAft>
                  <a:spcPts val="700"/>
                </a:spcAft>
                <a:buFont typeface="Courier New" panose="02070309020205020404" pitchFamily="49" charset="0"/>
                <a:buChar char="o"/>
                <a:defRPr sz="1400">
                  <a:solidFill>
                    <a:srgbClr val="27323B"/>
                  </a:solidFill>
                  <a:latin typeface="Aptos"/>
                </a:defRPr>
              </a:pPr>
              <a:r>
                <a:rPr sz="1200" dirty="0"/>
                <a:t>Phones &amp; Tablet (~₹39M) and Electronics (~₹33M) are the strongest category contributors.</a:t>
              </a:r>
            </a:p>
            <a:p>
              <a:pPr marL="285750" indent="-285750">
                <a:spcAft>
                  <a:spcPts val="700"/>
                </a:spcAft>
                <a:buFont typeface="Courier New" panose="02070309020205020404" pitchFamily="49" charset="0"/>
                <a:buChar char="o"/>
                <a:defRPr sz="1400">
                  <a:solidFill>
                    <a:srgbClr val="27323B"/>
                  </a:solidFill>
                  <a:latin typeface="Aptos"/>
                </a:defRPr>
              </a:pPr>
              <a:r>
                <a:rPr sz="1200" dirty="0"/>
                <a:t>Canon EOS 600D, Canon EOS 60D and Amazon Fire HD are among the highest revenue-generating products.</a:t>
              </a:r>
            </a:p>
            <a:p>
              <a:pPr marL="285750" indent="-285750">
                <a:spcAft>
                  <a:spcPts val="700"/>
                </a:spcAft>
                <a:buFont typeface="Courier New" panose="02070309020205020404" pitchFamily="49" charset="0"/>
                <a:buChar char="o"/>
                <a:defRPr sz="1400">
                  <a:solidFill>
                    <a:srgbClr val="27323B"/>
                  </a:solidFill>
                  <a:latin typeface="Aptos"/>
                </a:defRPr>
              </a:pPr>
              <a:r>
                <a:rPr sz="1200" dirty="0"/>
                <a:t>The 2020 uplift appears across categories rather than being isolated to one product line.</a:t>
              </a:r>
              <a:endParaRPr lang="en-IN" sz="1200" dirty="0"/>
            </a:p>
            <a:p>
              <a:pPr marL="285750" indent="-285750">
                <a:spcAft>
                  <a:spcPts val="700"/>
                </a:spcAft>
                <a:buFont typeface="Courier New" panose="02070309020205020404" pitchFamily="49" charset="0"/>
                <a:buChar char="o"/>
                <a:defRPr sz="1400">
                  <a:solidFill>
                    <a:srgbClr val="27323B"/>
                  </a:solidFill>
                  <a:latin typeface="Aptos"/>
                </a:defRPr>
              </a:pPr>
              <a:r>
                <a:rPr lang="en" sz="1200" dirty="0">
                  <a:solidFill>
                    <a:srgbClr val="27323B"/>
                  </a:solidFill>
                  <a:latin typeface="Aptos"/>
                  <a:sym typeface="Times New Roman"/>
                </a:rPr>
                <a:t>The strong jump in 2020 suggests improved sales strategy, higher customer demand, better product performance, or expanded market reach.</a:t>
              </a:r>
              <a:r>
                <a:rPr lang="en-US" sz="1200" dirty="0">
                  <a:solidFill>
                    <a:srgbClr val="27323B"/>
                  </a:solidFill>
                  <a:latin typeface="Aptos"/>
                  <a:sym typeface="Times New Roman"/>
                </a:rPr>
                <a:t> </a:t>
              </a:r>
            </a:p>
            <a:p>
              <a:pPr marL="285750" indent="-285750">
                <a:spcAft>
                  <a:spcPts val="700"/>
                </a:spcAft>
                <a:buFont typeface="Courier New" panose="02070309020205020404" pitchFamily="49" charset="0"/>
                <a:buChar char="o"/>
                <a:defRPr sz="1400">
                  <a:solidFill>
                    <a:srgbClr val="27323B"/>
                  </a:solidFill>
                  <a:latin typeface="Aptos"/>
                </a:defRPr>
              </a:pPr>
              <a:endParaRPr sz="1200" dirty="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15200" y="4621329"/>
              <a:ext cx="4160520" cy="822960"/>
            </a:xfrm>
            <a:prstGeom prst="roundRect">
              <a:avLst/>
            </a:prstGeom>
            <a:solidFill>
              <a:srgbClr val="FCF6E7"/>
            </a:solidFill>
            <a:ln>
              <a:solidFill>
                <a:srgbClr val="E8EEF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79792" y="4686300"/>
              <a:ext cx="3831335" cy="6400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0">
                  <a:solidFill>
                    <a:srgbClr val="27323B"/>
                  </a:solidFill>
                  <a:latin typeface="Aptos"/>
                </a:defRPr>
              </a:pPr>
              <a:r>
                <a:rPr dirty="0"/>
                <a:t>Business meaning: protect the strongest technology portfolio while using targeted growth tactics to raise the long tail.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63117A-BA33-7FE7-B065-898B30DC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27" y="1186801"/>
            <a:ext cx="5713819" cy="2537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AB7CC6-C662-7329-84B4-C40F1404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27" y="3723853"/>
            <a:ext cx="4026288" cy="24074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1D073F-46DA-FDB1-1828-2FB55D76DA0A}"/>
              </a:ext>
            </a:extLst>
          </p:cNvPr>
          <p:cNvSpPr txBox="1"/>
          <p:nvPr/>
        </p:nvSpPr>
        <p:spPr>
          <a:xfrm>
            <a:off x="6679933" y="1010744"/>
            <a:ext cx="4892040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fontAlgn="base">
              <a:spcBef>
                <a:spcPct val="0"/>
              </a:spcBef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Phones &amp; Tablet and Electronics are the strongest revenue contributors, generating approximately ₹39M and ₹33M respectively. </a:t>
            </a:r>
          </a:p>
          <a:p>
            <a:pPr marL="285750" lvl="0" indent="-285750" fontAlgn="base">
              <a:spcBef>
                <a:spcPct val="0"/>
              </a:spcBef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Fashion, Health &amp; Beauty, and Home &amp; Office contribute around ₹12M each, leaving significant room for targeted growth. </a:t>
            </a:r>
          </a:p>
          <a:p>
            <a:pPr marL="285750" lvl="0" indent="-285750" fontAlgn="base">
              <a:spcBef>
                <a:spcPct val="0"/>
              </a:spcBef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Health &amp; Beauty and Fashion show the highest overall rating volumes, indicating stronger customer engagement and feedback in these categories. </a:t>
            </a:r>
          </a:p>
          <a:p>
            <a:pPr marL="285750" lvl="0" indent="-285750" fontAlgn="base">
              <a:spcBef>
                <a:spcPct val="0"/>
              </a:spcBef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Electronics has the lowest rating volume despite being a high-revenue category, suggesting an opportunity to improve customer feedback collection and engagement.</a:t>
            </a:r>
          </a:p>
          <a:p>
            <a:pPr marL="285750" lvl="0" indent="-285750" fontAlgn="base">
              <a:spcBef>
                <a:spcPct val="0"/>
              </a:spcBef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sz="1400" dirty="0"/>
              <a:t> High revenue does not always translate into stronger customer engagement; Amazon should protect the performance of Electronics and use targeted marketing and customer-feedback initiatives to grow the lower-revenue categories.</a:t>
            </a:r>
          </a:p>
          <a:p>
            <a:pPr marL="285750" indent="-285750" fontAlgn="base">
              <a:spcBef>
                <a:spcPct val="0"/>
              </a:spcBef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sz="1400" dirty="0">
                <a:solidFill>
                  <a:srgbClr val="27323B"/>
                </a:solidFill>
                <a:latin typeface="Aptos"/>
                <a:sym typeface="Times New Roman"/>
              </a:rPr>
              <a:t>Lower-performing categories present an opportunity for growth through targeted marketing, discounts, product bundling, and improved customer engagement strategies.</a:t>
            </a:r>
            <a:endParaRPr lang="en-IN" sz="1400" dirty="0">
              <a:solidFill>
                <a:srgbClr val="27323B"/>
              </a:solidFill>
              <a:latin typeface="Aptos"/>
            </a:endParaRP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2AA59-4330-E56E-7320-5F2D0F0F77E8}"/>
              </a:ext>
            </a:extLst>
          </p:cNvPr>
          <p:cNvSpPr txBox="1"/>
          <p:nvPr/>
        </p:nvSpPr>
        <p:spPr>
          <a:xfrm>
            <a:off x="796491" y="388426"/>
            <a:ext cx="61582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lang="en-IN" sz="2400" b="1" dirty="0"/>
              <a:t>Product Category &amp; Customer Satisfaction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5835C-14D1-8FF0-D907-357E4A99C30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236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6060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lang="en-IN" sz="2400" b="1" dirty="0"/>
              <a:t>Product &amp; Monthly Sales Trends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t>Focus effort where demand exists but performance is still under-optimized</a:t>
            </a:r>
          </a:p>
        </p:txBody>
      </p:sp>
      <p:pic>
        <p:nvPicPr>
          <p:cNvPr id="6" name="Picture 5" descr="image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34440"/>
            <a:ext cx="4750938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75491" y="1124712"/>
            <a:ext cx="4663440" cy="356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Two high-price, low-volume camera products stand out: Canon EOS 600D and Canon EOS 60D bundle.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The opportunity is not simply a blanket discount: improve product visibility, content quality, bundles and affordability options first.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January is the strongest revenue month (~₹10.1M); June and September are among the weakest (~₹8.1M).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Promotions should be concentrated around weaker periods to smooth seasonality instead of discounting evenly all year.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9BA369-52D3-6C7B-5A41-4F37D86E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27240"/>
            <a:ext cx="5791201" cy="2210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2461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dirty="0"/>
              <a:t>Customer</a:t>
            </a:r>
            <a:r>
              <a:rPr lang="en-IN" dirty="0"/>
              <a:t> Satisfaction and</a:t>
            </a:r>
            <a:r>
              <a:rPr dirty="0"/>
              <a:t> </a:t>
            </a:r>
            <a:r>
              <a:rPr lang="en-IN" dirty="0"/>
              <a:t>Category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t>The dataset contains first-time buyers — so the loyalty goal is conversion to a second order</a:t>
            </a:r>
          </a:p>
        </p:txBody>
      </p:sp>
      <p:pic>
        <p:nvPicPr>
          <p:cNvPr id="6" name="Picture 5" descr="image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90" y="1234440"/>
            <a:ext cx="4256415" cy="2433288"/>
          </a:xfrm>
          <a:prstGeom prst="rect">
            <a:avLst/>
          </a:prstGeom>
        </p:spPr>
      </p:pic>
      <p:pic>
        <p:nvPicPr>
          <p:cNvPr id="7" name="Picture 6" descr="image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90" y="3731735"/>
            <a:ext cx="4256415" cy="26016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33185" y="1355098"/>
            <a:ext cx="687862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Bronze is the largest customer segment, with approximately 87K customers, while Silver, Gold and Platinum have much smaller customer bases of about 15K, 7K and 3K respectively.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Revenue is more evenly distributed than customer count: Bronze generates ₹29.6M, Gold ₹29.1M, Silver ₹25.7M, and Platinum ₹22.8M, showing that smaller premium segments still contribute substantial revenue.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The analysis reveals two distinct revenue levers: Bronze drives revenue through customer volume, while Gold and Platinum contribute through higher-value customers despite their smaller populations. </a:t>
            </a:r>
          </a:p>
          <a:p>
            <a:pPr marL="285750" lvl="0" indent="-285750" defTabSz="914400" eaLnBrk="0" fontAlgn="base" hangingPunct="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Because the Orders–Customers relationship is 1:1 in this dataset, purchase frequency cannot meaningfully distinguish loyalty tiers; therefore, spend-based segmentation (Bronze → Silver → Gold → Platinum) is the most appropriate interim approach. </a:t>
            </a:r>
          </a:p>
          <a:p>
            <a:pPr marL="285750" lvl="0" indent="-285750" defTabSz="914400" eaLnBrk="0" fontAlgn="base" hangingPunct="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The immediate retention opportunity is to convert first-time buyers into second-time customers through welcome-back incentives, followed by tier-specific benefits once repeat-purchase </a:t>
            </a:r>
            <a:r>
              <a:rPr lang="en-US" altLang="en-US" sz="1400" dirty="0" err="1">
                <a:solidFill>
                  <a:srgbClr val="27323B"/>
                </a:solidFill>
                <a:latin typeface="Aptos"/>
              </a:rPr>
              <a:t>behaviour</a:t>
            </a: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 can be measured. </a:t>
            </a:r>
          </a:p>
          <a:p>
            <a:pPr marL="285750" lvl="0" indent="-285750" defTabSz="914400" eaLnBrk="0" fontAlgn="base" hangingPunct="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altLang="en-US" sz="1400" dirty="0">
                <a:solidFill>
                  <a:srgbClr val="27323B"/>
                </a:solidFill>
                <a:latin typeface="Aptos"/>
              </a:rPr>
              <a:t>For long-term customer analytics, Amazon should move toward an RFM-style segmentation (Recency, Frequency, Monetary) once sufficient repeat-order history becomes available, enabling more targeted loyalty and retention strategies.</a:t>
            </a:r>
            <a:endParaRPr lang="en-IN" sz="1400" dirty="0">
              <a:solidFill>
                <a:srgbClr val="27323B"/>
              </a:solidFill>
              <a:latin typeface="Aptos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799440F-02A8-CF3C-2B30-AA8694B7D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62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1843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dirty="0"/>
              <a:t>Delivery &amp;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t>Delivery type drives waiting time; revenue is geographically concentrated</a:t>
            </a:r>
          </a:p>
        </p:txBody>
      </p:sp>
      <p:pic>
        <p:nvPicPr>
          <p:cNvPr id="6" name="Picture 5" descr="imag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10" y="1386518"/>
            <a:ext cx="3195697" cy="2079057"/>
          </a:xfrm>
          <a:prstGeom prst="rect">
            <a:avLst/>
          </a:prstGeom>
        </p:spPr>
      </p:pic>
      <p:pic>
        <p:nvPicPr>
          <p:cNvPr id="7" name="Picture 6" descr="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10" y="3611880"/>
            <a:ext cx="3195696" cy="26021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75234" y="1325880"/>
            <a:ext cx="7134726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Express averages ~3.5 days, Standard ~10 days and Shipped from Abroad ~15 days.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Average wait time is broadly similar across product categories (~9.5 days), so delivery type is the stronger operational lever.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Greater Accra (~₹27M) and Ashanti (~₹23M) are the leading revenue markets.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7323B"/>
                </a:solidFill>
                <a:latin typeface="Aptos"/>
              </a:defRPr>
            </a:pPr>
            <a:r>
              <a:rPr dirty="0"/>
              <a:t>The top two locations contribute roughly 47% of total revenue, making regional resource allocation important.</a:t>
            </a:r>
            <a:endParaRPr lang="en-IN" dirty="0"/>
          </a:p>
          <a:p>
            <a:pPr>
              <a:spcAft>
                <a:spcPts val="700"/>
              </a:spcAft>
              <a:defRPr sz="1400">
                <a:solidFill>
                  <a:srgbClr val="27323B"/>
                </a:solidFill>
                <a:latin typeface="Aptos"/>
              </a:defRPr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41D932-44F8-A451-26E0-8F42021FD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725" y="3572610"/>
            <a:ext cx="7447378" cy="29012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6497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dirty="0"/>
              <a:t>Returns &amp; 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t>Return problems are broad-based — suggesting process fixes, not one-off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1886" y="2273168"/>
            <a:ext cx="4610796" cy="333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7323B"/>
                </a:solidFill>
                <a:latin typeface="Aptos"/>
              </a:defRPr>
            </a:pPr>
            <a:r>
              <a:rPr dirty="0"/>
              <a:t>~31K orders are returned, roughly 27% of the 113K-order dataset.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7323B"/>
                </a:solidFill>
                <a:latin typeface="Aptos"/>
              </a:defRPr>
            </a:pPr>
            <a:r>
              <a:rPr dirty="0"/>
              <a:t>Health &amp; Beauty and Fashion have the highest return volumes (~9.7K and ~9K).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7323B"/>
                </a:solidFill>
                <a:latin typeface="Aptos"/>
              </a:defRPr>
            </a:pPr>
            <a:r>
              <a:rPr dirty="0"/>
              <a:t>Return reasons span quality/defect, missing items, wrong item, expectation mismatch and description mismatch — no single dominant cause.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7323B"/>
                </a:solidFill>
                <a:latin typeface="Aptos"/>
              </a:defRPr>
            </a:pPr>
            <a:r>
              <a:rPr dirty="0"/>
              <a:t>Average delivery time for low-rated orders is similar to higher-rated orders, so delivery speed alone is unlikely to be the root cause of poor ratings.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EFD122-2A6B-A530-3AB0-02E405E2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60777"/>
            <a:ext cx="3330254" cy="6766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B7E34F-394B-A430-C31E-EC4B3337E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427818"/>
            <a:ext cx="5651026" cy="3179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sz="2500" b="1">
                <a:solidFill>
                  <a:srgbClr val="2A4869"/>
                </a:solidFill>
                <a:latin typeface="Aptos"/>
              </a:rPr>
              <a:t>Recommendations: Customers &amp;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rPr sz="1300" b="1">
                <a:solidFill>
                  <a:srgbClr val="506274"/>
                </a:solidFill>
                <a:latin typeface="Aptos"/>
              </a:rPr>
              <a:t>Simple actions to grow value without broad discounts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B6DE38-EAD2-94B6-407B-0887B6DEBCC0}"/>
              </a:ext>
            </a:extLst>
          </p:cNvPr>
          <p:cNvGrpSpPr/>
          <p:nvPr/>
        </p:nvGrpSpPr>
        <p:grpSpPr>
          <a:xfrm>
            <a:off x="685800" y="1504909"/>
            <a:ext cx="10378440" cy="886247"/>
            <a:chOff x="685800" y="1234440"/>
            <a:chExt cx="10378440" cy="886247"/>
          </a:xfrm>
        </p:grpSpPr>
        <p:sp>
          <p:nvSpPr>
            <p:cNvPr id="6" name="Oval 5"/>
            <p:cNvSpPr/>
            <p:nvPr/>
          </p:nvSpPr>
          <p:spPr>
            <a:xfrm>
              <a:off x="685800" y="1234440"/>
              <a:ext cx="502920" cy="502920"/>
            </a:xfrm>
            <a:prstGeom prst="ellipse">
              <a:avLst/>
            </a:prstGeom>
            <a:solidFill>
              <a:srgbClr val="3F91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FE21E67-BD72-DF63-8515-511C52C777DF}"/>
                </a:ext>
              </a:extLst>
            </p:cNvPr>
            <p:cNvGrpSpPr/>
            <p:nvPr/>
          </p:nvGrpSpPr>
          <p:grpSpPr>
            <a:xfrm>
              <a:off x="685800" y="1316737"/>
              <a:ext cx="10378440" cy="803950"/>
              <a:chOff x="685800" y="1309758"/>
              <a:chExt cx="10378440" cy="80395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85800" y="1344168"/>
                <a:ext cx="502920" cy="27432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defRPr sz="1200" b="1">
                    <a:solidFill>
                      <a:srgbClr val="FFFFFF"/>
                    </a:solidFill>
                    <a:latin typeface="Aptos"/>
                  </a:defRPr>
                </a:pPr>
                <a:r>
                  <a:rPr sz="1400" b="1">
                    <a:solidFill>
                      <a:srgbClr val="FFFFFF"/>
                    </a:solidFill>
                    <a:latin typeface="Aptos"/>
                  </a:rPr>
                  <a:t>1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173480" y="1309758"/>
                <a:ext cx="310896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500" b="1">
                    <a:solidFill>
                      <a:srgbClr val="1C3752"/>
                    </a:solidFill>
                    <a:latin typeface="Aptos"/>
                  </a:defRPr>
                </a:pPr>
                <a:r>
                  <a:rPr sz="1500" b="1" dirty="0">
                    <a:solidFill>
                      <a:srgbClr val="2A4869"/>
                    </a:solidFill>
                    <a:latin typeface="Aptos"/>
                  </a:rPr>
                  <a:t>Convert first-time buyers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480560" y="1336468"/>
                <a:ext cx="6583680" cy="7772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300" b="0">
                    <a:solidFill>
                      <a:srgbClr val="27323B"/>
                    </a:solidFill>
                    <a:latin typeface="Aptos"/>
                  </a:defRPr>
                </a:pPr>
                <a:r>
                  <a:rPr sz="1250" b="0" dirty="0">
                    <a:solidFill>
                      <a:srgbClr val="23303F"/>
                    </a:solidFill>
                    <a:latin typeface="Aptos"/>
                  </a:rPr>
                  <a:t>Use a simple welcome-back offer and track second purchases.</a:t>
                </a:r>
              </a:p>
            </p:txBody>
          </p:sp>
        </p:grpSp>
      </p:grpSp>
      <p:sp>
        <p:nvSpPr>
          <p:cNvPr id="10" name="Oval 9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3B0CD4C-CE9C-C5D2-AE02-77890BF563E5}"/>
              </a:ext>
            </a:extLst>
          </p:cNvPr>
          <p:cNvGrpSpPr/>
          <p:nvPr/>
        </p:nvGrpSpPr>
        <p:grpSpPr>
          <a:xfrm>
            <a:off x="685800" y="2539986"/>
            <a:ext cx="10332720" cy="778564"/>
            <a:chOff x="685800" y="2539986"/>
            <a:chExt cx="10332720" cy="778564"/>
          </a:xfrm>
        </p:grpSpPr>
        <p:sp>
          <p:nvSpPr>
            <p:cNvPr id="11" name="TextBox 10"/>
            <p:cNvSpPr txBox="1"/>
            <p:nvPr/>
          </p:nvSpPr>
          <p:spPr>
            <a:xfrm>
              <a:off x="685800" y="2578608"/>
              <a:ext cx="5029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Aptos"/>
                </a:defRPr>
              </a:pPr>
              <a:r>
                <a:rPr sz="1400" b="1" dirty="0">
                  <a:solidFill>
                    <a:srgbClr val="FFFFFF"/>
                  </a:solidFill>
                  <a:latin typeface="Aptos"/>
                </a:rPr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73480" y="2539986"/>
              <a:ext cx="31089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500" b="1">
                  <a:solidFill>
                    <a:srgbClr val="1C3752"/>
                  </a:solidFill>
                  <a:latin typeface="Aptos"/>
                </a:defRPr>
              </a:pPr>
              <a:r>
                <a:rPr sz="1500" b="1" dirty="0">
                  <a:solidFill>
                    <a:srgbClr val="2A4869"/>
                  </a:solidFill>
                  <a:latin typeface="Aptos"/>
                </a:rPr>
                <a:t>Protect high-value customers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34840" y="2541310"/>
              <a:ext cx="6583680" cy="7772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0">
                  <a:solidFill>
                    <a:srgbClr val="27323B"/>
                  </a:solidFill>
                  <a:latin typeface="Aptos"/>
                </a:defRPr>
              </a:pPr>
              <a:r>
                <a:rPr sz="1250" b="0" dirty="0">
                  <a:solidFill>
                    <a:srgbClr val="23303F"/>
                  </a:solidFill>
                  <a:latin typeface="Aptos"/>
                </a:rPr>
                <a:t>Give Gold and Platinum customers stronger benefits and early access.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54C45C-0034-EB0B-4C38-3FD67279FBD2}"/>
              </a:ext>
            </a:extLst>
          </p:cNvPr>
          <p:cNvGrpSpPr/>
          <p:nvPr/>
        </p:nvGrpSpPr>
        <p:grpSpPr>
          <a:xfrm>
            <a:off x="685800" y="3402049"/>
            <a:ext cx="10332720" cy="777240"/>
            <a:chOff x="685800" y="3698748"/>
            <a:chExt cx="10332720" cy="777240"/>
          </a:xfrm>
        </p:grpSpPr>
        <p:sp>
          <p:nvSpPr>
            <p:cNvPr id="14" name="Oval 13"/>
            <p:cNvSpPr/>
            <p:nvPr/>
          </p:nvSpPr>
          <p:spPr>
            <a:xfrm>
              <a:off x="685800" y="3703320"/>
              <a:ext cx="502920" cy="502920"/>
            </a:xfrm>
            <a:prstGeom prst="ellipse">
              <a:avLst/>
            </a:prstGeom>
            <a:solidFill>
              <a:srgbClr val="E8AA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34B2B1D-E97A-4894-1962-82FB99E8A61B}"/>
                </a:ext>
              </a:extLst>
            </p:cNvPr>
            <p:cNvGrpSpPr/>
            <p:nvPr/>
          </p:nvGrpSpPr>
          <p:grpSpPr>
            <a:xfrm>
              <a:off x="685800" y="3698748"/>
              <a:ext cx="10332720" cy="777240"/>
              <a:chOff x="685800" y="3698748"/>
              <a:chExt cx="10332720" cy="77724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685800" y="3813048"/>
                <a:ext cx="502920" cy="27432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defRPr sz="1200" b="1">
                    <a:solidFill>
                      <a:srgbClr val="FFFFFF"/>
                    </a:solidFill>
                    <a:latin typeface="Aptos"/>
                  </a:defRPr>
                </a:pPr>
                <a:r>
                  <a:rPr sz="1400" b="1">
                    <a:solidFill>
                      <a:srgbClr val="FFFFFF"/>
                    </a:solidFill>
                    <a:latin typeface="Aptos"/>
                  </a:rPr>
                  <a:t>3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188720" y="3704764"/>
                <a:ext cx="310896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500" b="1">
                    <a:solidFill>
                      <a:srgbClr val="1C3752"/>
                    </a:solidFill>
                    <a:latin typeface="Aptos"/>
                  </a:defRPr>
                </a:pPr>
                <a:r>
                  <a:rPr sz="1500" b="1" dirty="0">
                    <a:solidFill>
                      <a:srgbClr val="2A4869"/>
                    </a:solidFill>
                    <a:latin typeface="Aptos"/>
                  </a:rPr>
                  <a:t>Improve high-price, low-volume products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434840" y="3698748"/>
                <a:ext cx="6583680" cy="7772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300" b="0">
                    <a:solidFill>
                      <a:srgbClr val="27323B"/>
                    </a:solidFill>
                    <a:latin typeface="Aptos"/>
                  </a:defRPr>
                </a:pPr>
                <a:r>
                  <a:rPr sz="1250" b="0">
                    <a:solidFill>
                      <a:srgbClr val="23303F"/>
                    </a:solidFill>
                    <a:latin typeface="Aptos"/>
                  </a:rPr>
                  <a:t>Improve images, details, visibility and bundles before cutting price.</a:t>
                </a:r>
              </a:p>
            </p:txBody>
          </p:sp>
        </p:grpSp>
      </p:grpSp>
      <p:sp>
        <p:nvSpPr>
          <p:cNvPr id="18" name="Oval 17"/>
          <p:cNvSpPr/>
          <p:nvPr/>
        </p:nvSpPr>
        <p:spPr>
          <a:xfrm>
            <a:off x="685800" y="4285769"/>
            <a:ext cx="502920" cy="502920"/>
          </a:xfrm>
          <a:prstGeom prst="ellipse">
            <a:avLst/>
          </a:prstGeom>
          <a:solidFill>
            <a:srgbClr val="3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AB8A1C6-823F-52DE-1D50-F61C4E5CF81F}"/>
              </a:ext>
            </a:extLst>
          </p:cNvPr>
          <p:cNvGrpSpPr/>
          <p:nvPr/>
        </p:nvGrpSpPr>
        <p:grpSpPr>
          <a:xfrm>
            <a:off x="685800" y="4388037"/>
            <a:ext cx="10332720" cy="777240"/>
            <a:chOff x="685800" y="5040028"/>
            <a:chExt cx="10332720" cy="777240"/>
          </a:xfrm>
        </p:grpSpPr>
        <p:sp>
          <p:nvSpPr>
            <p:cNvPr id="19" name="TextBox 18"/>
            <p:cNvSpPr txBox="1"/>
            <p:nvPr/>
          </p:nvSpPr>
          <p:spPr>
            <a:xfrm>
              <a:off x="685800" y="5047488"/>
              <a:ext cx="50292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  <a:latin typeface="Aptos"/>
                </a:defRPr>
              </a:pPr>
              <a:r>
                <a:rPr sz="1400" b="1">
                  <a:solidFill>
                    <a:srgbClr val="FFFFFF"/>
                  </a:solidFill>
                  <a:latin typeface="Aptos"/>
                </a:rPr>
                <a:t>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88720" y="5047488"/>
              <a:ext cx="3108960" cy="320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500" b="1">
                  <a:solidFill>
                    <a:srgbClr val="1C3752"/>
                  </a:solidFill>
                  <a:latin typeface="Aptos"/>
                </a:defRPr>
              </a:pPr>
              <a:r>
                <a:rPr sz="1500" b="1" dirty="0">
                  <a:solidFill>
                    <a:srgbClr val="2A4869"/>
                  </a:solidFill>
                  <a:latin typeface="Aptos"/>
                </a:rPr>
                <a:t>Use promotions selectively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34840" y="5040028"/>
              <a:ext cx="6583680" cy="7772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1300" b="0">
                  <a:solidFill>
                    <a:srgbClr val="27323B"/>
                  </a:solidFill>
                  <a:latin typeface="Aptos"/>
                </a:defRPr>
              </a:pPr>
              <a:r>
                <a:rPr sz="1250" b="0" dirty="0">
                  <a:solidFill>
                    <a:srgbClr val="23303F"/>
                  </a:solidFill>
                  <a:latin typeface="Aptos"/>
                </a:rPr>
                <a:t>Target weaker months and proven-demand products instead of blanket discounts.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685800" y="5429310"/>
            <a:ext cx="10515600" cy="411480"/>
          </a:xfrm>
          <a:prstGeom prst="roundRect">
            <a:avLst/>
          </a:prstGeom>
          <a:solidFill>
            <a:srgbClr val="EAF2F9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5539038"/>
            <a:ext cx="10186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7323B"/>
                </a:solidFill>
                <a:latin typeface="Aptos"/>
              </a:defRPr>
            </a:pPr>
            <a:r>
              <a:rPr sz="1150" b="0">
                <a:solidFill>
                  <a:srgbClr val="23303F"/>
                </a:solidFill>
                <a:latin typeface="Aptos"/>
              </a:rPr>
              <a:t>Expected impact: more repeat purchases, better product conversion and fewer unnecessary discounts.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sz="2500" b="1">
                <a:solidFill>
                  <a:srgbClr val="2A4869"/>
                </a:solidFill>
                <a:latin typeface="Aptos"/>
              </a:rPr>
              <a:t>Recommendations: Returns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rPr sz="1300" b="1">
                <a:solidFill>
                  <a:srgbClr val="506274"/>
                </a:solidFill>
                <a:latin typeface="Aptos"/>
              </a:rPr>
              <a:t>Focus on the biggest customer-experience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3291840" cy="1325880"/>
          </a:xfrm>
          <a:prstGeom prst="roundRect">
            <a:avLst/>
          </a:prstGeom>
          <a:solidFill>
            <a:srgbClr val="EAF2F9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64008" cy="132588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26463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6976"/>
                </a:solidFill>
                <a:latin typeface="Aptos"/>
              </a:defRPr>
            </a:pPr>
            <a:r>
              <a:rPr sz="1050" b="1">
                <a:solidFill>
                  <a:srgbClr val="506274"/>
                </a:solidFill>
                <a:latin typeface="Aptos"/>
              </a:rPr>
              <a:t>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C3752"/>
                </a:solidFill>
                <a:latin typeface="Aptos"/>
              </a:defRPr>
            </a:pPr>
            <a:r>
              <a:rPr sz="1500" b="1">
                <a:solidFill>
                  <a:srgbClr val="2A4869"/>
                </a:solidFill>
                <a:latin typeface="Aptos"/>
              </a:rPr>
              <a:t>Reduce avoidable returns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291840" cy="1325880"/>
          </a:xfrm>
          <a:prstGeom prst="roundRect">
            <a:avLst/>
          </a:prstGeom>
          <a:solidFill>
            <a:srgbClr val="E9F6F5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64008" cy="1325880"/>
          </a:xfrm>
          <a:prstGeom prst="rect">
            <a:avLst/>
          </a:prstGeom>
          <a:solidFill>
            <a:srgbClr val="3F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426463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6976"/>
                </a:solidFill>
                <a:latin typeface="Aptos"/>
              </a:defRPr>
            </a:pPr>
            <a:r>
              <a:rPr sz="1050" b="1">
                <a:solidFill>
                  <a:srgbClr val="506274"/>
                </a:solidFill>
                <a:latin typeface="Aptos"/>
              </a:rP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75564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C3752"/>
                </a:solidFill>
                <a:latin typeface="Aptos"/>
              </a:defRPr>
            </a:pPr>
            <a:r>
              <a:rPr sz="1500" b="1">
                <a:solidFill>
                  <a:srgbClr val="2A4869"/>
                </a:solidFill>
                <a:latin typeface="Aptos"/>
              </a:rPr>
              <a:t>Improve delivery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280160"/>
            <a:ext cx="3291840" cy="1325880"/>
          </a:xfrm>
          <a:prstGeom prst="roundRect">
            <a:avLst/>
          </a:prstGeom>
          <a:solidFill>
            <a:srgbClr val="FCF6E7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1280160"/>
            <a:ext cx="64008" cy="1325880"/>
          </a:xfrm>
          <a:prstGeom prst="rect">
            <a:avLst/>
          </a:prstGeom>
          <a:solidFill>
            <a:srgbClr val="E8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82712" y="1426463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A6976"/>
                </a:solidFill>
                <a:latin typeface="Aptos"/>
              </a:defRPr>
            </a:pPr>
            <a:r>
              <a:rPr sz="1050" b="1">
                <a:solidFill>
                  <a:srgbClr val="506274"/>
                </a:solidFill>
                <a:latin typeface="Aptos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175564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C3752"/>
                </a:solidFill>
                <a:latin typeface="Aptos"/>
              </a:defRPr>
            </a:pPr>
            <a:r>
              <a:rPr sz="1500" b="1">
                <a:solidFill>
                  <a:srgbClr val="2A4869"/>
                </a:solidFill>
                <a:latin typeface="Aptos"/>
              </a:rPr>
              <a:t>Strengthen listing &amp; packing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10287000" cy="1161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3303F"/>
                </a:solidFill>
                <a:latin typeface="Aptos"/>
              </a:defRPr>
            </a:pPr>
            <a:r>
              <a:rPr dirty="0"/>
              <a:t>Improve product descriptions, images and packing checks in high-return categories.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3303F"/>
                </a:solidFill>
                <a:latin typeface="Aptos"/>
              </a:defRPr>
            </a:pPr>
            <a:r>
              <a:rPr dirty="0"/>
              <a:t>Prioritize faster delivery where possible and set clear expectations for overseas orders.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3303F"/>
                </a:solidFill>
                <a:latin typeface="Aptos"/>
              </a:defRPr>
            </a:pPr>
            <a:r>
              <a:rPr dirty="0"/>
              <a:t>Track return reason, delivery time and rating together to find the strongest operational fixes.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300">
                <a:solidFill>
                  <a:srgbClr val="23303F"/>
                </a:solidFill>
                <a:latin typeface="Aptos"/>
              </a:defRPr>
            </a:pPr>
            <a:r>
              <a:rPr dirty="0"/>
              <a:t>Use June–September promotions to support weaker periods instead of discounting all year.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029200"/>
            <a:ext cx="10287000" cy="640080"/>
          </a:xfrm>
          <a:prstGeom prst="roundRect">
            <a:avLst/>
          </a:prstGeom>
          <a:solidFill>
            <a:srgbClr val="E9F6F5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5138928"/>
            <a:ext cx="9957816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7323B"/>
                </a:solidFill>
                <a:latin typeface="Aptos"/>
              </a:defRPr>
            </a:pPr>
            <a:r>
              <a:rPr sz="1150" b="0" dirty="0">
                <a:solidFill>
                  <a:srgbClr val="23303F"/>
                </a:solidFill>
                <a:latin typeface="Aptos"/>
              </a:rPr>
              <a:t>Decision rule: fix customer friction first, then use targeted offers to support growth.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3752"/>
                </a:solidFill>
                <a:latin typeface="Aptos"/>
              </a:defRPr>
            </a:pPr>
            <a:r>
              <a:rPr sz="2500" b="1">
                <a:solidFill>
                  <a:srgbClr val="2A4869"/>
                </a:solidFill>
                <a:latin typeface="Aptos"/>
              </a:rPr>
              <a:t>Dashboard &amp;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5078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A6976"/>
                </a:solidFill>
                <a:latin typeface="Aptos"/>
              </a:defRPr>
            </a:pPr>
            <a:r>
              <a:rPr sz="1300" b="1">
                <a:solidFill>
                  <a:srgbClr val="506274"/>
                </a:solidFill>
                <a:latin typeface="Aptos"/>
              </a:rPr>
              <a:t>Three interactive Power BI views for quick business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00577"/>
            <a:ext cx="5162991" cy="1405887"/>
          </a:xfrm>
          <a:prstGeom prst="roundRect">
            <a:avLst/>
          </a:prstGeom>
          <a:solidFill>
            <a:srgbClr val="EAF2F9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637738"/>
            <a:ext cx="5532120" cy="10264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spcAft>
                <a:spcPts val="700"/>
              </a:spcAft>
              <a:buFont typeface="Courier New" panose="02070309020205020404" pitchFamily="49" charset="0"/>
              <a:buChar char="o"/>
              <a:defRPr sz="1080" b="0">
                <a:solidFill>
                  <a:srgbClr val="23303F"/>
                </a:solidFill>
                <a:latin typeface="Aptos"/>
              </a:defRPr>
            </a:pPr>
            <a:r>
              <a:t>Sales: KPIs, revenue trend, customer segments and category performance.</a:t>
            </a:r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080">
                <a:solidFill>
                  <a:srgbClr val="23303F"/>
                </a:solidFill>
                <a:latin typeface="Aptos"/>
              </a:defRPr>
            </a:pPr>
            <a:r>
              <a:t>Product: category, price, rating, delivery and product comparison.</a:t>
            </a:r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080">
                <a:solidFill>
                  <a:srgbClr val="23303F"/>
                </a:solidFill>
                <a:latin typeface="Aptos"/>
              </a:defRPr>
            </a:pPr>
            <a:r>
              <a:t>Individual Product: revenue, location, rating and product trends.</a:t>
            </a:r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080">
                <a:solidFill>
                  <a:srgbClr val="23303F"/>
                </a:solidFill>
                <a:latin typeface="Aptos"/>
              </a:defRPr>
            </a:pPr>
            <a:r>
              <a:t>Filters: Year, Category, Gender, Age Group, Delivery Type and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582" y="6178394"/>
            <a:ext cx="75726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3752"/>
                </a:solidFill>
                <a:latin typeface="Aptos"/>
              </a:defRPr>
            </a:pPr>
            <a:r>
              <a:rPr sz="1200" b="1" dirty="0">
                <a:solidFill>
                  <a:srgbClr val="2A4869"/>
                </a:solidFill>
                <a:latin typeface="Aptos"/>
              </a:rPr>
              <a:t>Simple, interactive views make it easy to compare performance and focus on key business areas.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F89462-AA7F-18BD-3D8A-63169EE8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35" t="8528" r="10489" b="9724"/>
          <a:stretch>
            <a:fillRect/>
          </a:stretch>
        </p:blipFill>
        <p:spPr>
          <a:xfrm>
            <a:off x="761358" y="3174847"/>
            <a:ext cx="3170562" cy="250864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C922C43-DA21-FAC8-1363-C76766E48745}"/>
              </a:ext>
            </a:extLst>
          </p:cNvPr>
          <p:cNvGrpSpPr/>
          <p:nvPr/>
        </p:nvGrpSpPr>
        <p:grpSpPr>
          <a:xfrm>
            <a:off x="7961927" y="232793"/>
            <a:ext cx="3986099" cy="6396607"/>
            <a:chOff x="7789405" y="404357"/>
            <a:chExt cx="3569646" cy="61479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B244DDA-3321-6E9C-0958-059634B40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9405" y="404357"/>
              <a:ext cx="3526695" cy="196535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8BA931-AC09-7B5D-FA46-CF5098011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89405" y="2452282"/>
              <a:ext cx="3569646" cy="203600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5306074-50DD-8BD1-6BB0-C1D44AAB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89405" y="4540507"/>
              <a:ext cx="3569646" cy="20118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F4E18B-B9D8-379C-CD8F-1498D83B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20"/>
            <a:ext cx="12192000" cy="679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0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36A32-846C-4CE3-F7F2-AEC10DCC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92"/>
            <a:ext cx="12192000" cy="681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4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D0C0E2-C9DE-D7E2-563F-FD75AD4A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4" y="0"/>
            <a:ext cx="12021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42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7F7684-1BF3-583F-1688-7B3141A21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9"/>
            <a:ext cx="12192000" cy="683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87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2A4869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41248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506274"/>
                </a:solidFill>
                <a:latin typeface="Aptos"/>
              </a:rPr>
              <a:t>A simple view of what the analysis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333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600">
                <a:solidFill>
                  <a:srgbClr val="23303F"/>
                </a:solidFill>
                <a:latin typeface="Aptos"/>
              </a:defRPr>
            </a:pPr>
            <a:r>
              <a:rPr dirty="0"/>
              <a:t>2020 was the strongest growth year, with Phones &amp; Tablet and Electronics leading revenue.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600">
                <a:solidFill>
                  <a:srgbClr val="23303F"/>
                </a:solidFill>
                <a:latin typeface="Aptos"/>
              </a:defRPr>
            </a:pPr>
            <a:r>
              <a:rPr dirty="0"/>
              <a:t>Bronze is the largest customer group; Gold and Platinum are smaller but still high-value.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600">
                <a:solidFill>
                  <a:srgbClr val="23303F"/>
                </a:solidFill>
                <a:latin typeface="Aptos"/>
              </a:defRPr>
            </a:pPr>
            <a:r>
              <a:rPr dirty="0"/>
              <a:t>Returns are high and spread across several reasons, so product quality and fulfilment need attention.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600">
                <a:solidFill>
                  <a:srgbClr val="23303F"/>
                </a:solidFill>
                <a:latin typeface="Aptos"/>
              </a:defRPr>
            </a:pPr>
            <a:r>
              <a:rPr dirty="0"/>
              <a:t>Delivery type has the clearest impact on waiting time, especially for overseas orders.</a:t>
            </a:r>
          </a:p>
          <a:p>
            <a:pPr marL="285750" indent="-285750">
              <a:lnSpc>
                <a:spcPct val="200000"/>
              </a:lnSpc>
              <a:spcAft>
                <a:spcPts val="700"/>
              </a:spcAft>
              <a:buFont typeface="Courier New" panose="02070309020205020404" pitchFamily="49" charset="0"/>
              <a:buChar char="o"/>
              <a:defRPr sz="1600">
                <a:solidFill>
                  <a:srgbClr val="23303F"/>
                </a:solidFill>
                <a:latin typeface="Aptos"/>
              </a:defRPr>
            </a:pPr>
            <a:r>
              <a:rPr dirty="0"/>
              <a:t>The dashboard turns these findings into practical actions: retain customers, reduce friction and target growth where it matters most.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669280"/>
            <a:ext cx="10149840" cy="594360"/>
          </a:xfrm>
          <a:prstGeom prst="roundRect">
            <a:avLst/>
          </a:prstGeom>
          <a:solidFill>
            <a:srgbClr val="E9F6F5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5833872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3303F"/>
                </a:solidFill>
                <a:latin typeface="Aptos"/>
              </a:rPr>
              <a:t>Bottom line: protect strong categories, improve customer experience and use targeted growth actions.</a:t>
            </a:r>
          </a:p>
        </p:txBody>
      </p:sp>
    </p:spTree>
    <p:extLst>
      <p:ext uri="{BB962C8B-B14F-4D97-AF65-F5344CB8AC3E}">
        <p14:creationId xmlns:p14="http://schemas.microsoft.com/office/powerpoint/2010/main" val="89837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625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54680" y="2473182"/>
            <a:ext cx="85039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dirty="0">
                <a:solidFill>
                  <a:srgbClr val="2A4869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5987" y="3894804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2A4869"/>
                </a:solidFill>
                <a:latin typeface="Aptos"/>
              </a:rPr>
              <a:t>Hiteshi Aglawe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7A19FF-FB2E-A1F4-3930-DEBACB83F0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35" t="8528" r="10489" b="9724"/>
          <a:stretch>
            <a:fillRect/>
          </a:stretch>
        </p:blipFill>
        <p:spPr>
          <a:xfrm>
            <a:off x="1076585" y="1584617"/>
            <a:ext cx="3170562" cy="25086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1526</Words>
  <Application>Microsoft Office PowerPoint</Application>
  <PresentationFormat>Widescreen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Hiteshi Aglawe</cp:lastModifiedBy>
  <cp:revision>12</cp:revision>
  <dcterms:created xsi:type="dcterms:W3CDTF">2013-01-27T09:14:16Z</dcterms:created>
  <dcterms:modified xsi:type="dcterms:W3CDTF">2026-09-04T12:54:48Z</dcterms:modified>
  <cp:category/>
</cp:coreProperties>
</file>